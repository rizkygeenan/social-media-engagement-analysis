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Plus Jakarta Sans"/>
      <p:regular r:id="rId31"/>
      <p:bold r:id="rId32"/>
      <p:italic r:id="rId33"/>
      <p:boldItalic r:id="rId34"/>
    </p:embeddedFont>
    <p:embeddedFont>
      <p:font typeface="Plus Jakarta Sa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6DE1FD-F9FD-4052-B21E-965A942C28CB}">
  <a:tblStyle styleId="{0C6DE1FD-F9FD-4052-B21E-965A942C28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PlusJakartaSans-italic.fntdata"/><Relationship Id="rId10" Type="http://schemas.openxmlformats.org/officeDocument/2006/relationships/slide" Target="slides/slide4.xml"/><Relationship Id="rId32" Type="http://schemas.openxmlformats.org/officeDocument/2006/relationships/font" Target="fonts/PlusJakartaSans-bold.fntdata"/><Relationship Id="rId13" Type="http://schemas.openxmlformats.org/officeDocument/2006/relationships/slide" Target="slides/slide7.xml"/><Relationship Id="rId35" Type="http://schemas.openxmlformats.org/officeDocument/2006/relationships/font" Target="fonts/PlusJakartaSa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PlusJakartaSans-boldItalic.fntdata"/><Relationship Id="rId15" Type="http://schemas.openxmlformats.org/officeDocument/2006/relationships/slide" Target="slides/slide9.xml"/><Relationship Id="rId37" Type="http://schemas.openxmlformats.org/officeDocument/2006/relationships/font" Target="fonts/PlusJakartaSa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PlusJakartaSansSemi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PlusJakartaSans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e9d028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ae9d028c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ae9d028c9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ae9d028c9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ae9d028c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ae9d028c9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ae9d028c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fae9d028c9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0.png"/><Relationship Id="rId13" Type="http://schemas.openxmlformats.org/officeDocument/2006/relationships/image" Target="../media/image18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5" Type="http://schemas.openxmlformats.org/officeDocument/2006/relationships/image" Target="../media/image28.png"/><Relationship Id="rId14" Type="http://schemas.openxmlformats.org/officeDocument/2006/relationships/image" Target="../media/image17.png"/><Relationship Id="rId16" Type="http://schemas.openxmlformats.org/officeDocument/2006/relationships/image" Target="../media/image25.png"/><Relationship Id="rId5" Type="http://schemas.openxmlformats.org/officeDocument/2006/relationships/image" Target="../media/image1.png"/><Relationship Id="rId6" Type="http://schemas.openxmlformats.org/officeDocument/2006/relationships/image" Target="../media/image15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37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9" Type="http://schemas.openxmlformats.org/officeDocument/2006/relationships/image" Target="../media/image39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9750" y="2448382"/>
            <a:ext cx="8572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DATA ANALYST BOOTCAMP ASSIGNMENT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95412" y="2782507"/>
            <a:ext cx="90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Social Media </a:t>
            </a:r>
            <a:r>
              <a:rPr b="1" lang="en-US" sz="4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555217"/>
            <a:ext cx="8572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Evaluasi Komprehensif Performa Konten, Metrik Engagement, dan Strategi Berbasis Data dengan Insight Mendalam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29137" y="4299495"/>
            <a:ext cx="313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Muhammad Rizky Ginanjar | DABI 23</a:t>
            </a:r>
            <a:endParaRPr sz="1350">
              <a:solidFill>
                <a:srgbClr val="0D948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715000" y="2739628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895475" y="3015853"/>
            <a:ext cx="84012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/ Konsep &amp; Komponen Dataset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967037" y="3835003"/>
            <a:ext cx="62580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Memahami dasar pengukuran interaksi dan komponen penting dalam Social Media Analytics.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619125" y="381000"/>
            <a:ext cx="11572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Social Media </a:t>
            </a:r>
            <a:r>
              <a:rPr b="1" lang="en-U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476250" y="381000"/>
            <a:ext cx="47700" cy="409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18752"/>
          <a:stretch/>
        </p:blipFill>
        <p:spPr>
          <a:xfrm>
            <a:off x="487350" y="1189175"/>
            <a:ext cx="11217275" cy="51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399407"/>
            <a:ext cx="26955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4225" y="2399407"/>
            <a:ext cx="26955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0" y="2399407"/>
            <a:ext cx="26955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20175" y="2399407"/>
            <a:ext cx="26955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3351907"/>
            <a:ext cx="26955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24225" y="3351907"/>
            <a:ext cx="26955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00" y="3351907"/>
            <a:ext cx="26955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20175" y="3351907"/>
            <a:ext cx="26955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476250" y="4456807"/>
            <a:ext cx="11239500" cy="601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28650" y="4571107"/>
            <a:ext cx="109347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i="0" lang="en-US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Tingginya volume impresi (7,49M) dan jangkauan (4,73M) membuktikan strategi distribusi konten berjalan sangat efektif. Dengan rata-rata </a:t>
            </a:r>
            <a:r>
              <a:rPr i="1"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Engagement Rate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(ER) sebesar 6,45%, tingkat keterlibatan audiens tergolong sangat sehat karena berada di atas rata-rata standar industri (3–5%). </a:t>
            </a:r>
            <a:endParaRPr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476250" y="4456807"/>
            <a:ext cx="38100" cy="601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638175" y="2561332"/>
            <a:ext cx="23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7.49M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8175" y="2885182"/>
            <a:ext cx="23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Impressions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486150" y="2561332"/>
            <a:ext cx="23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4.73M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3486150" y="2885182"/>
            <a:ext cx="23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Reach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334125" y="2561332"/>
            <a:ext cx="23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1.18M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334125" y="2885182"/>
            <a:ext cx="23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Interaction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182100" y="2561332"/>
            <a:ext cx="23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457.8K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182100" y="2885182"/>
            <a:ext cx="23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Clicks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38175" y="3513832"/>
            <a:ext cx="23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25.91%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38175" y="3837682"/>
            <a:ext cx="23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Interaction/Reach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3486150" y="3513832"/>
            <a:ext cx="23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20.39%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3486150" y="3837682"/>
            <a:ext cx="23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Interaction/Imp.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334125" y="3513832"/>
            <a:ext cx="23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6.45%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34125" y="3837682"/>
            <a:ext cx="23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 by Reach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182100" y="3513832"/>
            <a:ext cx="23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6.27%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182100" y="3837682"/>
            <a:ext cx="23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Click-Through Rate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19125" y="381000"/>
            <a:ext cx="11572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Social Media Metrics &amp; Overview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476250" y="381000"/>
            <a:ext cx="47700" cy="409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7"/>
          <p:cNvGrpSpPr/>
          <p:nvPr/>
        </p:nvGrpSpPr>
        <p:grpSpPr>
          <a:xfrm>
            <a:off x="476250" y="4937593"/>
            <a:ext cx="11239500" cy="1201800"/>
            <a:chOff x="476250" y="5163468"/>
            <a:chExt cx="11239500" cy="1201800"/>
          </a:xfrm>
        </p:grpSpPr>
        <p:sp>
          <p:nvSpPr>
            <p:cNvPr id="145" name="Google Shape;145;p17"/>
            <p:cNvSpPr/>
            <p:nvPr/>
          </p:nvSpPr>
          <p:spPr>
            <a:xfrm>
              <a:off x="476250" y="5163468"/>
              <a:ext cx="11239500" cy="12018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628650" y="5277782"/>
              <a:ext cx="10934700" cy="8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Insight:</a:t>
              </a:r>
              <a:r>
                <a:rPr i="0" lang="en-US" sz="11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 Awareness (7M Impressions / 5M Reach):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Jangkauan konten sangat luas dan efektif menarik perhatian audiens.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Good Engagement (1M Interactions - 24.85%):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Konten berhasil memicu interaksi yang kuat dari audiens yang dijangkau.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Conversion Opportunity (6.1% Clicks):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Perlu optimasi </a:t>
              </a:r>
              <a:r>
                <a:rPr i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Call to Action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(CTA) untuk meningkatkan jumlah klik di tahap akhir.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476250" y="5163468"/>
              <a:ext cx="47700" cy="120180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17"/>
          <p:cNvSpPr txBox="1"/>
          <p:nvPr/>
        </p:nvSpPr>
        <p:spPr>
          <a:xfrm>
            <a:off x="619125" y="381000"/>
            <a:ext cx="11572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Social Media </a:t>
            </a:r>
            <a:r>
              <a:rPr b="1" lang="en-U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Funnel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476250" y="381000"/>
            <a:ext cx="47700" cy="409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0272" y="1418475"/>
            <a:ext cx="6591450" cy="309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325" y="3952875"/>
            <a:ext cx="552450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619125" y="381000"/>
            <a:ext cx="115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Metrik Utama &amp; Rumus Perhitungan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238250"/>
            <a:ext cx="55245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952875"/>
            <a:ext cx="55245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2164950"/>
            <a:ext cx="4123275" cy="4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476250" y="381000"/>
            <a:ext cx="11715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SzPts val="1100"/>
              <a:buNone/>
            </a:pPr>
            <a:r>
              <a:rPr b="1" lang="en-U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Metrik Utama &amp; Rumus Perhitungan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143827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1171575" y="1512540"/>
            <a:ext cx="188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Engagement Rate (ER)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714375" y="2857784"/>
            <a:ext cx="5048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Mengukur seberapa aktif audiens berinteraksi dengan konten dibandingkan jumlah pengikut atau total orang yang melihatnya.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1238213"/>
            <a:ext cx="55245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9375" y="143827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6886575" y="1512540"/>
            <a:ext cx="2362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Interaction-per-Reach (IPR)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429300" y="2905409"/>
            <a:ext cx="5048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Mengetahui efektivitas konten dalam memicu reaksi dari tiap akun unik yang benar-benar melihat postingan.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325" y="3952875"/>
            <a:ext cx="55245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41529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1171575" y="4227165"/>
            <a:ext cx="2695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Interaction-per-Impression (IPI)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14300" y="5773159"/>
            <a:ext cx="5048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Menilai seberapa sering sebuah konten menghasilkan interaksi setiap kali konten tersebut muncul di layar pengguna.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3952875"/>
            <a:ext cx="55245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9375" y="41529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6886575" y="4227165"/>
            <a:ext cx="2162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Click-Through Rate (CTR)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429300" y="5773159"/>
            <a:ext cx="5048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Mengukur efektivitas tautan atau tombol Call-to-Action (CTA) dalam mendorong audiens berkunjung lebih lanjut.</a:t>
            </a:r>
            <a:endParaRPr/>
          </a:p>
        </p:txBody>
      </p:sp>
      <p:pic>
        <p:nvPicPr>
          <p:cNvPr descr="image.png" id="177" name="Google Shape;17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15335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15335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0100" y="424815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53200" y="42481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09625" y="2236725"/>
            <a:ext cx="3872736" cy="28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00" y="2127450"/>
            <a:ext cx="4598525" cy="4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15025" y="2199213"/>
            <a:ext cx="3872736" cy="28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524625" y="2171838"/>
            <a:ext cx="4296741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4918625"/>
            <a:ext cx="4514850" cy="4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09625" y="4990400"/>
            <a:ext cx="3872736" cy="28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54087" y="4990413"/>
            <a:ext cx="4303286" cy="28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2650" y="4918625"/>
            <a:ext cx="4514850" cy="4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492824" y="4963025"/>
            <a:ext cx="3401197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/>
          <p:nvPr/>
        </p:nvSpPr>
        <p:spPr>
          <a:xfrm>
            <a:off x="5715000" y="2739628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1305401" y="3015853"/>
            <a:ext cx="958119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/ Analisis Platform &amp; Waktu Unggah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3471862" y="3835003"/>
            <a:ext cx="5248275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Evaluasi platform media sosial terbaik serta pola waktu unggah paling optimal.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466082"/>
            <a:ext cx="55245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466082"/>
            <a:ext cx="552450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/>
          <p:nvPr/>
        </p:nvSpPr>
        <p:spPr>
          <a:xfrm>
            <a:off x="476250" y="5469632"/>
            <a:ext cx="11239500" cy="601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28650" y="5583932"/>
            <a:ext cx="109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nstagram</a:t>
            </a:r>
            <a:r>
              <a:rPr lang="en-US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unggul dalam kualitas interaksi audiens dengan ER tertinggi (7,01%), sedangkan TikTok mendominasi total volume interaksi secara mutlak. Kombinasi keduanya menciptakan keseimbangan antara </a:t>
            </a:r>
            <a:r>
              <a:rPr i="1" lang="en-US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depth of engagement</a:t>
            </a:r>
            <a:r>
              <a:rPr lang="en-US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(IG) dan </a:t>
            </a:r>
            <a:r>
              <a:rPr i="1" lang="en-US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mass reach</a:t>
            </a:r>
            <a:r>
              <a:rPr lang="en-US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(TikTok). 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76250" y="5469632"/>
            <a:ext cx="38100" cy="601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76250" y="2466082"/>
            <a:ext cx="5800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Platform by Engagement Rate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191250" y="2466082"/>
            <a:ext cx="5800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Platform by Total Interaction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19125" y="381000"/>
            <a:ext cx="115728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Platform by Engagement Rate &amp; Interactions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476250" y="381000"/>
            <a:ext cx="47625" cy="409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250" y="1814615"/>
            <a:ext cx="5524500" cy="3228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1254" y="1770366"/>
            <a:ext cx="5524500" cy="3172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/>
          <p:nvPr/>
        </p:nvSpPr>
        <p:spPr>
          <a:xfrm>
            <a:off x="476250" y="4603253"/>
            <a:ext cx="11239500" cy="6018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28650" y="4717553"/>
            <a:ext cx="10934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Sore hari (Afternoon) adalah waktu terbaik untuk memicu keterlibatan aktif (ER 7.45%), sedangkan malam hari (Evening) efektif untuk mendorong tindakan klik tautan (CTR 7.74%) karena waktu luang audiens yang lebih panjang.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476250" y="4603253"/>
            <a:ext cx="38100" cy="601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76250" y="2252960"/>
            <a:ext cx="11239500" cy="2235993"/>
          </a:xfrm>
          <a:prstGeom prst="roundRect">
            <a:avLst>
              <a:gd fmla="val 0" name="adj"/>
            </a:avLst>
          </a:prstGeom>
          <a:solidFill>
            <a:srgbClr val="F8FAFC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21"/>
          <p:cNvGraphicFramePr/>
          <p:nvPr/>
        </p:nvGraphicFramePr>
        <p:xfrm>
          <a:off x="476250" y="2252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{0C6DE1FD-F9FD-4052-B21E-965A942C28CB}</a:tableStyleId>
              </a:tblPr>
              <a:tblGrid>
                <a:gridCol w="2558500"/>
                <a:gridCol w="2030900"/>
                <a:gridCol w="2488850"/>
                <a:gridCol w="1632650"/>
                <a:gridCol w="2519075"/>
              </a:tblGrid>
              <a:tr h="44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Upload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Reach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Impressions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CTR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ER by Reach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4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Afternoon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1,175,067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2,036,845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6.93%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7.45%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664,471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1,225,585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7.74%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5.37%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Morning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1,584,041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2,553,454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5.95%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5.54%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1,310,474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1,678,466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5.06%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6.79%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21"/>
          <p:cNvSpPr/>
          <p:nvPr/>
        </p:nvSpPr>
        <p:spPr>
          <a:xfrm>
            <a:off x="481012" y="2693491"/>
            <a:ext cx="25585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3039516" y="2693491"/>
            <a:ext cx="2030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070425" y="2693491"/>
            <a:ext cx="24888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7559278" y="2693491"/>
            <a:ext cx="16326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9191922" y="2693491"/>
            <a:ext cx="2519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81012" y="3138785"/>
            <a:ext cx="25585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039516" y="3138785"/>
            <a:ext cx="2030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070425" y="3138785"/>
            <a:ext cx="24888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7559278" y="3138785"/>
            <a:ext cx="16326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9191922" y="3138785"/>
            <a:ext cx="2519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81012" y="3584078"/>
            <a:ext cx="25585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039516" y="3584078"/>
            <a:ext cx="2030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070425" y="3584078"/>
            <a:ext cx="24888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7559278" y="3584078"/>
            <a:ext cx="16326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9191922" y="3584078"/>
            <a:ext cx="2519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481012" y="4029372"/>
            <a:ext cx="25585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039516" y="4029372"/>
            <a:ext cx="2030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5070425" y="4029372"/>
            <a:ext cx="24888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7559278" y="4029372"/>
            <a:ext cx="16326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9191922" y="4029372"/>
            <a:ext cx="2519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619125" y="381000"/>
            <a:ext cx="115728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by Upload Time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476250" y="381000"/>
            <a:ext cx="47625" cy="409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/>
          <p:nvPr/>
        </p:nvSpPr>
        <p:spPr>
          <a:xfrm>
            <a:off x="5715000" y="2739628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1515427" y="3015853"/>
            <a:ext cx="916114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/ Analisis Format Konten &amp; Insight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3324225" y="3835003"/>
            <a:ext cx="55435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Membandingkan performa format konten berdasarkan Engagement Rate dan CTR.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480369"/>
            <a:ext cx="55245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480369"/>
            <a:ext cx="552450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/>
          <p:nvPr/>
        </p:nvSpPr>
        <p:spPr>
          <a:xfrm>
            <a:off x="476250" y="5464069"/>
            <a:ext cx="11239500" cy="601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628650" y="5434644"/>
            <a:ext cx="10934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Insight Format Konten: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Single Image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b="0" i="1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Long Video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unggul dalam membangun kedekatan dan interaksi. Sebaliknya, format </a:t>
            </a:r>
            <a:r>
              <a:rPr b="0" i="1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Shorts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menjadi mesin konversi klik utama (8.16%) karena format ringkas yang langsung memberikan call-to-action kuat.</a:t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476250" y="5320344"/>
            <a:ext cx="38100" cy="601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476250" y="2480369"/>
            <a:ext cx="5800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Content Type by Engagement Rate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191250" y="2480369"/>
            <a:ext cx="5800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Content Type by CTR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19125" y="381000"/>
            <a:ext cx="115728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Content Type by ER &amp; CTR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476250" y="381000"/>
            <a:ext cx="47625" cy="409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250" y="1770375"/>
            <a:ext cx="5539848" cy="317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0750" y="1770375"/>
            <a:ext cx="5800725" cy="331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952625"/>
            <a:ext cx="355595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952625"/>
            <a:ext cx="355595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1952625"/>
            <a:ext cx="355595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476250" y="476250"/>
            <a:ext cx="11715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Pola Perilaku: Format, Platform &amp; Waktu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819150" y="2952750"/>
            <a:ext cx="301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Format Konten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819150" y="3352800"/>
            <a:ext cx="2870100" cy="17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 statis dan video panjang mendominasi kedekatan interaksi, sementara video singkat memegang dominasi dalam hal konversi klik tautan secara langsung.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4660850" y="2952750"/>
            <a:ext cx="301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4660850" y="3352800"/>
            <a:ext cx="28701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Instagram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unggul dalam kualitas engagement rate (7.01%), sementara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TikTok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mendominasi secara mutlak pada total volume interaksi audiens.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8502550" y="2952750"/>
            <a:ext cx="301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Waktu Unggah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8502550" y="3352800"/>
            <a:ext cx="28701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Sore hari (Afternoon) mencatatkan ER tertinggi (7.45%), sedangkan malam hari (Evening) efektif memaksimalkan kunjungan klik dengan CTR mencapai 7.74%.</a:t>
            </a:r>
            <a:endParaRPr/>
          </a:p>
        </p:txBody>
      </p:sp>
      <p:pic>
        <p:nvPicPr>
          <p:cNvPr descr="image.png" id="285" name="Google Shape;28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3336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0850" y="23336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2550" y="233362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185987"/>
            <a:ext cx="54292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85987"/>
            <a:ext cx="542925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476250" y="476250"/>
            <a:ext cx="11715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Kemungkinan Penyebab Pola Performa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819150" y="2528887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Relevansi Visual &amp; Durasi Tonton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819150" y="2747962"/>
            <a:ext cx="474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Format visual langsung dan video panjang memberikan substansi informasi yang utuh, sehingga audiens memberikan tanggapan berupa komentar dan suka secara natural.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819150" y="3890962"/>
            <a:ext cx="474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Kombinasi platform Instagram dan TikTok memfasilitasi karakter audiens yang aktif berinteraksi serta menyerap konten berbasis algoritma video cepat.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6629400" y="2528887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Pola Waktu Luang &amp; Desain Format Ringkas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6629400" y="2747962"/>
            <a:ext cx="474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Aktivitas audiens yang meningkat pada sore hingga malam hari mendukung tingkat penerimaan informasi yang lebih tinggi.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6629400" y="3633787"/>
            <a:ext cx="474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Format ringkas (Shorts) ditopang oleh penyampaian cepat dan tombol aksi yang lugas sehingga mempermudah konversi klik.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809625" y="3143250"/>
            <a:ext cx="10906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Pemisahan Tujuan (Awareness vs Action):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Mengg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unakan </a:t>
            </a:r>
            <a:r>
              <a:rPr b="0" i="1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Single Image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atau </a:t>
            </a:r>
            <a:r>
              <a:rPr b="0" i="1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Long Video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untuk membangun interaksi emosional dan </a:t>
            </a:r>
            <a:r>
              <a:rPr b="0" i="1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brand awareness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serta gunakan </a:t>
            </a:r>
            <a:r>
              <a:rPr b="0" i="1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Shorts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untuk konversi cepat.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809625" y="3671887"/>
            <a:ext cx="1090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Optimalisasi Waktu: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Penjadwalan posting di sore hari menghasilkan interaksi tertinggi, sementara posting malam hari memaksimalkan traffic klik.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809625" y="3993356"/>
            <a:ext cx="1090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Sinergi Lintas Platform: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Kombinasi Instagram untuk engagement kualitas tinggi dan TikTok untuk jangkauan massa terbukti paling optimal secara keseluruhan.</a:t>
            </a:r>
            <a:endParaRPr/>
          </a:p>
        </p:txBody>
      </p:sp>
      <p:pic>
        <p:nvPicPr>
          <p:cNvPr descr="image.png" id="310" name="Google Shape;31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1575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6861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007643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6"/>
          <p:cNvSpPr txBox="1"/>
          <p:nvPr/>
        </p:nvSpPr>
        <p:spPr>
          <a:xfrm>
            <a:off x="619125" y="381000"/>
            <a:ext cx="11572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Interpretasi Hasil Analisis &amp; Insight</a:t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476250" y="381000"/>
            <a:ext cx="47700" cy="409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27"/>
          <p:cNvGrpSpPr/>
          <p:nvPr/>
        </p:nvGrpSpPr>
        <p:grpSpPr>
          <a:xfrm>
            <a:off x="476250" y="1009525"/>
            <a:ext cx="11560575" cy="1743075"/>
            <a:chOff x="476250" y="2857500"/>
            <a:chExt cx="11560575" cy="1743075"/>
          </a:xfrm>
        </p:grpSpPr>
        <p:grpSp>
          <p:nvGrpSpPr>
            <p:cNvPr id="321" name="Google Shape;321;p27"/>
            <p:cNvGrpSpPr/>
            <p:nvPr/>
          </p:nvGrpSpPr>
          <p:grpSpPr>
            <a:xfrm>
              <a:off x="476250" y="2857500"/>
              <a:ext cx="11560575" cy="1743075"/>
              <a:chOff x="476250" y="2857500"/>
              <a:chExt cx="11560575" cy="1743075"/>
            </a:xfrm>
          </p:grpSpPr>
          <p:pic>
            <p:nvPicPr>
              <p:cNvPr descr="image.png" id="322" name="Google Shape;322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76250" y="2857500"/>
                <a:ext cx="11239500" cy="1743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3" name="Google Shape;323;p27"/>
              <p:cNvSpPr txBox="1"/>
              <p:nvPr/>
            </p:nvSpPr>
            <p:spPr>
              <a:xfrm>
                <a:off x="695325" y="3076575"/>
                <a:ext cx="11341500" cy="19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219075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75" u="none" cap="none" strike="noStrike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Mengapa Engagement Dianggap Penting &amp; Kapan Menyesatkan?</a:t>
                </a:r>
                <a:endParaRPr/>
              </a:p>
            </p:txBody>
          </p:sp>
          <p:sp>
            <p:nvSpPr>
              <p:cNvPr id="324" name="Google Shape;324;p27"/>
              <p:cNvSpPr txBox="1"/>
              <p:nvPr/>
            </p:nvSpPr>
            <p:spPr>
              <a:xfrm>
                <a:off x="695325" y="3381375"/>
                <a:ext cx="10801500" cy="42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449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125" u="none" cap="none" strike="noStrike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Mengapa Penting:</a:t>
                </a:r>
                <a:r>
                  <a:rPr b="0" i="0" lang="en-US" sz="1125" u="none" cap="none" strike="noStrike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Engagement menunjukkan sejauh mana konten mampu meresonansi audiens, membangun kedekatan, dan mencerminkan kualitas hubungan (bukan sekadar melihat).</a:t>
                </a:r>
                <a:endParaRPr/>
              </a:p>
            </p:txBody>
          </p:sp>
          <p:sp>
            <p:nvSpPr>
              <p:cNvPr id="325" name="Google Shape;325;p27"/>
              <p:cNvSpPr txBox="1"/>
              <p:nvPr/>
            </p:nvSpPr>
            <p:spPr>
              <a:xfrm>
                <a:off x="695325" y="3890962"/>
                <a:ext cx="10801500" cy="42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449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125" u="none" cap="none" strike="noStrike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Kapan Menyesatkan:</a:t>
                </a:r>
                <a:r>
                  <a:rPr b="0" i="0" lang="en-US" sz="1125" u="none" cap="none" strike="noStrike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Engagement rate bisa menyesatkan jika interaksi yang tinggi bersumber dari sentimen negatif (protes, keluhan, atau komentar komplain) atau clickbait berlebihan yang tidak sesuai substansi.</a:t>
                </a:r>
                <a:endParaRPr/>
              </a:p>
            </p:txBody>
          </p:sp>
        </p:grpSp>
        <p:pic>
          <p:nvPicPr>
            <p:cNvPr descr="image.png" id="326" name="Google Shape;326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95325" y="3105150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7" name="Google Shape;327;p27"/>
          <p:cNvSpPr txBox="1"/>
          <p:nvPr/>
        </p:nvSpPr>
        <p:spPr>
          <a:xfrm>
            <a:off x="619125" y="381000"/>
            <a:ext cx="11572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Refle</a:t>
            </a:r>
            <a:r>
              <a:rPr b="1" lang="en-U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ction Questions</a:t>
            </a:r>
            <a:endParaRPr/>
          </a:p>
        </p:txBody>
      </p:sp>
      <p:sp>
        <p:nvSpPr>
          <p:cNvPr id="328" name="Google Shape;328;p27"/>
          <p:cNvSpPr/>
          <p:nvPr/>
        </p:nvSpPr>
        <p:spPr>
          <a:xfrm>
            <a:off x="476250" y="381000"/>
            <a:ext cx="47625" cy="409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" name="Google Shape;329;p27"/>
          <p:cNvGrpSpPr/>
          <p:nvPr/>
        </p:nvGrpSpPr>
        <p:grpSpPr>
          <a:xfrm>
            <a:off x="476250" y="2847975"/>
            <a:ext cx="11560575" cy="1762125"/>
            <a:chOff x="476250" y="2847975"/>
            <a:chExt cx="11560575" cy="1762125"/>
          </a:xfrm>
        </p:grpSpPr>
        <p:pic>
          <p:nvPicPr>
            <p:cNvPr descr="image.png" id="330" name="Google Shape;330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6250" y="2847975"/>
              <a:ext cx="11239500" cy="1762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27"/>
            <p:cNvSpPr txBox="1"/>
            <p:nvPr/>
          </p:nvSpPr>
          <p:spPr>
            <a:xfrm>
              <a:off x="695325" y="3067050"/>
              <a:ext cx="113415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19075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Perbandingan Antar Konten untuk Strategi Berikutnya</a:t>
              </a:r>
              <a:endParaRPr/>
            </a:p>
          </p:txBody>
        </p:sp>
        <p:sp>
          <p:nvSpPr>
            <p:cNvPr id="332" name="Google Shape;332;p27"/>
            <p:cNvSpPr txBox="1"/>
            <p:nvPr/>
          </p:nvSpPr>
          <p:spPr>
            <a:xfrm>
              <a:off x="695325" y="3371850"/>
              <a:ext cx="108015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Analisis Komparatif:</a:t>
              </a:r>
              <a:r>
                <a:rPr b="0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Dari perhitungan, kita tahu bahwa </a:t>
              </a:r>
              <a:r>
                <a:rPr b="0" i="1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Single Image</a:t>
              </a:r>
              <a:r>
                <a:rPr b="0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dan </a:t>
              </a:r>
              <a:r>
                <a:rPr b="0" i="1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Long Video</a:t>
              </a:r>
              <a:r>
                <a:rPr b="0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unggul dalam ER (masing-masing 6.97% &amp; 6.92%), sementara </a:t>
              </a:r>
              <a:r>
                <a:rPr b="0" i="1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Shorts</a:t>
              </a:r>
              <a:r>
                <a:rPr b="0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mendominasi CTR (8.16%).</a:t>
              </a:r>
              <a:endParaRPr/>
            </a:p>
          </p:txBody>
        </p:sp>
        <p:sp>
          <p:nvSpPr>
            <p:cNvPr id="333" name="Google Shape;333;p27"/>
            <p:cNvSpPr txBox="1"/>
            <p:nvPr/>
          </p:nvSpPr>
          <p:spPr>
            <a:xfrm>
              <a:off x="695325" y="3900487"/>
              <a:ext cx="108015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Penerapan Strategi:</a:t>
              </a:r>
              <a:r>
                <a:rPr b="0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Perbandingan ini memandu kita untuk mengalokasikan sumber daya secara tepat: menggunakan format visual statis/panjang untuk memperkuat </a:t>
              </a:r>
              <a:r>
                <a:rPr b="0" i="1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brand loyalty</a:t>
              </a:r>
              <a:r>
                <a:rPr b="0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dan format pendek/shorts untuk mendorong konversi aksi atau kunjungan link.</a:t>
              </a:r>
              <a:endParaRPr/>
            </a:p>
          </p:txBody>
        </p:sp>
        <p:pic>
          <p:nvPicPr>
            <p:cNvPr descr="image.png" id="334" name="Google Shape;334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95325" y="3095625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5" name="Google Shape;335;p27"/>
          <p:cNvGrpSpPr/>
          <p:nvPr/>
        </p:nvGrpSpPr>
        <p:grpSpPr>
          <a:xfrm>
            <a:off x="476250" y="4705475"/>
            <a:ext cx="11560575" cy="1762125"/>
            <a:chOff x="476250" y="2847975"/>
            <a:chExt cx="11560575" cy="1762125"/>
          </a:xfrm>
        </p:grpSpPr>
        <p:pic>
          <p:nvPicPr>
            <p:cNvPr descr="image.png" id="336" name="Google Shape;336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6250" y="2847975"/>
              <a:ext cx="11239500" cy="1762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27"/>
            <p:cNvSpPr txBox="1"/>
            <p:nvPr/>
          </p:nvSpPr>
          <p:spPr>
            <a:xfrm>
              <a:off x="695325" y="3067050"/>
              <a:ext cx="113415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19075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Reach Tinggi namun Engagement Rendah</a:t>
              </a:r>
              <a:endParaRPr/>
            </a:p>
          </p:txBody>
        </p:sp>
        <p:sp>
          <p:nvSpPr>
            <p:cNvPr id="338" name="Google Shape;338;p27"/>
            <p:cNvSpPr txBox="1"/>
            <p:nvPr/>
          </p:nvSpPr>
          <p:spPr>
            <a:xfrm>
              <a:off x="695325" y="3371850"/>
              <a:ext cx="108015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Interpretasi Awal:</a:t>
              </a:r>
              <a:r>
                <a:rPr b="0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Konten berhasil menjangkau banyak orang (mungkin karena algoritma atau topik umum), tetapi gagal memicu ketertarikan interaksi lanjutan dari audiens tersebut.</a:t>
              </a:r>
              <a:endParaRPr/>
            </a:p>
          </p:txBody>
        </p:sp>
        <p:sp>
          <p:nvSpPr>
            <p:cNvPr id="339" name="Google Shape;339;p27"/>
            <p:cNvSpPr txBox="1"/>
            <p:nvPr/>
          </p:nvSpPr>
          <p:spPr>
            <a:xfrm>
              <a:off x="695325" y="3900487"/>
              <a:ext cx="108015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Mengapa Perlu Diperhatikan:</a:t>
              </a:r>
              <a:r>
                <a:rPr b="0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Kondisi ini mengindikasikan target audiens yang terlalu luas/tidak relevan, atau penggunaan </a:t>
              </a:r>
              <a:r>
                <a:rPr b="0" i="1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hook</a:t>
              </a:r>
              <a:r>
                <a:rPr b="0" i="0" lang="en-US" sz="1125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yang bersifat menyesatkan (clickbait). Hal ini penting dievaluasi agar tidak membuang anggaran distribusi pada audiens yang salah.</a:t>
              </a:r>
              <a:endParaRPr/>
            </a:p>
          </p:txBody>
        </p:sp>
        <p:pic>
          <p:nvPicPr>
            <p:cNvPr descr="image.png" id="340" name="Google Shape;340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95325" y="3095625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5" name="Google Shape;3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8"/>
          <p:cNvSpPr txBox="1"/>
          <p:nvPr/>
        </p:nvSpPr>
        <p:spPr>
          <a:xfrm>
            <a:off x="4060745" y="2358479"/>
            <a:ext cx="407050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Terima Kasih!</a:t>
            </a:r>
            <a:endParaRPr/>
          </a:p>
        </p:txBody>
      </p:sp>
      <p:sp>
        <p:nvSpPr>
          <p:cNvPr id="348" name="Google Shape;348;p28"/>
          <p:cNvSpPr txBox="1"/>
          <p:nvPr/>
        </p:nvSpPr>
        <p:spPr>
          <a:xfrm>
            <a:off x="3238500" y="3310975"/>
            <a:ext cx="57345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Sesi presentasi laporan analisis engagement </a:t>
            </a:r>
            <a:r>
              <a:rPr lang="en-US" sz="16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elah selesai.</a:t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>
            <a:off x="4529137" y="4299495"/>
            <a:ext cx="313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Muhammad Rizky Ginanjar | DABI 23</a:t>
            </a:r>
            <a:endParaRPr sz="1350">
              <a:solidFill>
                <a:srgbClr val="0D948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50" name="Google Shape;350;p28"/>
          <p:cNvSpPr txBox="1"/>
          <p:nvPr/>
        </p:nvSpPr>
        <p:spPr>
          <a:xfrm>
            <a:off x="1605162" y="2298157"/>
            <a:ext cx="90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Terima kasih!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